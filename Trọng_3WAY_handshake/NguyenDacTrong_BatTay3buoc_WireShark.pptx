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8" r:id="rId3"/>
    <p:sldId id="259" r:id="rId4"/>
    <p:sldId id="263" r:id="rId5"/>
    <p:sldId id="264" r:id="rId6"/>
    <p:sldId id="260" r:id="rId7"/>
    <p:sldId id="265" r:id="rId8"/>
    <p:sldId id="261" r:id="rId9"/>
    <p:sldId id="262" r:id="rId10"/>
    <p:sldId id="267" r:id="rId11"/>
    <p:sldId id="268" r:id="rId12"/>
    <p:sldId id="269" r:id="rId13"/>
    <p:sldId id="270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979A864-1C6F-1A09-8291-9482AF48F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223DEC30-0A36-D69E-29DE-E918BCCE9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79D6864-28C0-A6A9-1FD4-04D2CC26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22911DF-2180-D3A3-21ED-7B144F49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C8E7BA8-F478-F7B5-8003-E3F62095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7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7165A0C-B09F-C520-300C-143F07BFF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6125847-A7D9-8080-FCF7-94C155329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E8401DC-B67F-130E-6902-497FE5E6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71BCF28-547A-1F8B-2AAF-19A01829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41917DC-4A17-8B87-C082-5C47DE78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1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D8AECFE-CECB-7C77-210A-62312B049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2645337-346E-1E79-1B3A-17C7650E8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8800E38-D246-FE18-08DC-63903D20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770FB89-127B-20FB-D263-1A8BAEFA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79D36F6-0504-569D-069E-B5C1655F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8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07006D2-AB2F-15C2-E2F1-6D700EB8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DAAC45B-AB77-F6FF-585F-815FC94AF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2E200CF4-40E8-AF14-E2B9-1756F1DF1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EE6D5621-6BED-8F96-6AC1-5004F780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BC789C6-36B0-01E6-985A-F734DCD5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F390C9C-0703-4CF9-1464-BE59451D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47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21D361-73A0-6BD3-4692-D3195BCC1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62346C8-A2FB-87A8-BF98-F7E92A669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A45DAEE2-27CC-493B-522F-B54CCFF42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0B7E8365-B724-179A-AFC7-249B06E2F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571AB990-9F58-1738-A651-41B214420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7EA07A59-31FA-0FEA-1EA5-16D2FBCC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4565F8BA-1F58-6D63-3DBD-FC0341F3E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43A2ED-ADEF-0806-A561-A48FC722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A8B362E-5317-0E4B-1154-C8A325F5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8F44667E-539C-3369-9508-288E65BE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21208C72-500A-BAD8-0A86-85C2E6F9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40C1D36-0858-B3B3-2A34-D00FF65B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15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7CA0B08-913F-69F9-4251-3468E3E8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B73C5738-0DDC-0DCD-3475-5CB3E6F5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45F1D35-7427-C7E9-A5F7-D2346C14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7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851F962-2B4E-AA08-96D4-F728D54E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908F405-6E86-AAF3-F59F-21E959E01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AF38C527-1CAC-C46F-9638-65AD03AD7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E08F00BD-2532-EFE2-401F-85FF5605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C2A281D-B3EC-73CB-0A78-A001194B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66D77AC-32EF-18BA-AE4C-B007DFA0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C1F36E-2700-03F9-7160-03ABD43D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E641B091-D5DE-D0DC-A82B-71864193E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CA718BB-BCDF-1F89-77FC-580EFE09D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5D1ED1A-4EB4-ADA9-4B7B-A2338614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6CF1E07-92A4-B369-8E33-E1E22E44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B477E88-794E-24CA-F616-1F2161B1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0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7EB73F7-0194-90D1-1C77-0F6FAEA5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C01D236-CD1A-A863-D6D5-2F76043DD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3382ED5-A86B-51EF-F388-0A71B4A3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E84208C-DFEB-8861-B5DD-A4BF3888E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B4A3DCD-F758-6FD1-CF86-1E039979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57874DDB-8597-7633-AE70-44978E65F4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A8A046FB-F03E-8768-4A39-ACF7915BC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F506B82-470D-620E-64BD-DB4D819B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A7227D7-CF8D-62E8-4EF8-B95E83D2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985E3EA-8F3E-393F-3E31-3624B2E4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10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BF6DB5E2-8B3B-CE63-1709-E2FD7059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0E89438-8CE1-7A83-7C8D-24A725E5A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DD43581-6347-8A4A-8501-813557C3B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5F157-5302-48EC-BBC2-22851110DDF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FAE8E54-4F02-FCCE-A2C1-68C91546A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0C80A4E-BE16-D08E-EF4F-56FC5D876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8BEA2-A8EB-461A-B6DC-0874ACD91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6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89D0-811B-D401-F4F3-45B90B5B2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943" y="1639811"/>
            <a:ext cx="10202588" cy="1627665"/>
          </a:xfrm>
        </p:spPr>
        <p:txBody>
          <a:bodyPr>
            <a:no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ĐỀ TÀI: </a:t>
            </a:r>
            <a:r>
              <a:rPr lang="en-GB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KIẾN TRÚC TCP/IP VÀ CÁC KỊCH BẢN XẢY RA TRONG MÔ HÌNH BẮT TAY 3 BƯỚC BẰNG WIRES</a:t>
            </a:r>
            <a:r>
              <a:rPr lang="en-GB" sz="3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GB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ARK</a:t>
            </a:r>
            <a:endParaRPr lang="en-US" sz="35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3DBF2-3863-2F9E-9421-F8BBCDAEF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77" y="3553868"/>
            <a:ext cx="8439150" cy="275939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Học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phần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Các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vấn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đề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hiện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đại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của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truyền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thông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và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mạng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máy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tính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- </a:t>
            </a:r>
            <a:r>
              <a:rPr lang="en-US" sz="3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nhóm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1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Sinh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viên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thực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hiện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Nguyễn</a:t>
            </a:r>
            <a:r>
              <a:rPr 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Đắc Trọng</a:t>
            </a:r>
            <a:endParaRPr lang="en-US" sz="3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/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Mã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sinh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viên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22T1020777</a:t>
            </a:r>
          </a:p>
          <a:p>
            <a:pPr algn="l"/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Giảng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viên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hướng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dẫn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PGS.TS. Võ Thanh Tú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1B4EAE1-3E2A-1C2F-641E-63FF3AFE2B35}"/>
              </a:ext>
            </a:extLst>
          </p:cNvPr>
          <p:cNvSpPr txBox="1"/>
          <p:nvPr/>
        </p:nvSpPr>
        <p:spPr>
          <a:xfrm>
            <a:off x="1132943" y="72595"/>
            <a:ext cx="10530321" cy="1708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/>
                <a:cs typeface="Times New Roman"/>
              </a:rPr>
              <a:t>TRƯỜNG ĐẠI HỌC KHOA HỌC - </a:t>
            </a:r>
            <a:r>
              <a:rPr lang="en-US" sz="3500" b="1" dirty="0">
                <a:latin typeface="Times New Roman"/>
                <a:cs typeface="Segoe UI"/>
              </a:rPr>
              <a:t>ĐẠI HỌC HUẾ</a:t>
            </a:r>
          </a:p>
          <a:p>
            <a:r>
              <a:rPr sz="3500" dirty="0">
                <a:latin typeface="Times New Roman"/>
                <a:ea typeface="Calibri"/>
                <a:cs typeface="Calibri"/>
              </a:rPr>
              <a:t>​</a:t>
            </a:r>
            <a:endParaRPr lang="vi-VN" sz="3500" dirty="0">
              <a:latin typeface="Times New Roman"/>
              <a:cs typeface="Times New Roman"/>
            </a:endParaRPr>
          </a:p>
          <a:p>
            <a:pPr algn="ctr"/>
            <a:endParaRPr lang="vi-VN" sz="3500" dirty="0">
              <a:latin typeface="Times New Roman"/>
              <a:cs typeface="Times New Roman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2BBB5047-B5CD-D5A4-EB0D-20C1E42103EE}"/>
              </a:ext>
            </a:extLst>
          </p:cNvPr>
          <p:cNvSpPr txBox="1"/>
          <p:nvPr/>
        </p:nvSpPr>
        <p:spPr>
          <a:xfrm>
            <a:off x="2516724" y="782304"/>
            <a:ext cx="7158552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/>
                <a:cs typeface="Times New Roman"/>
              </a:rPr>
              <a:t>KHOA CÔNG NGHỆ THÔNG TIN</a:t>
            </a:r>
            <a:endParaRPr lang="en-US" sz="35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E0979291-E02D-4704-D3D8-09E3420FAEF5}"/>
              </a:ext>
            </a:extLst>
          </p:cNvPr>
          <p:cNvSpPr txBox="1"/>
          <p:nvPr/>
        </p:nvSpPr>
        <p:spPr>
          <a:xfrm>
            <a:off x="9024620" y="6489700"/>
            <a:ext cx="35991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dirty="0">
                <a:latin typeface="Times New Roman"/>
                <a:cs typeface="Arial"/>
              </a:rPr>
              <a:t>Huế, ngày 1 tháng 12 năm 2025</a:t>
            </a:r>
            <a:endParaRPr lang="vi-VN" dirty="0">
              <a:latin typeface="Times New Roman"/>
              <a:cs typeface="Times New Roman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2B7C3EE-D8CC-385C-6CF7-4AC26DC4B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618" y="3192930"/>
            <a:ext cx="2703911" cy="312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7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328FE39F-292E-806F-0DF5-A0453828C185}"/>
              </a:ext>
            </a:extLst>
          </p:cNvPr>
          <p:cNvSpPr txBox="1"/>
          <p:nvPr/>
        </p:nvSpPr>
        <p:spPr>
          <a:xfrm>
            <a:off x="0" y="0"/>
            <a:ext cx="6979298" cy="7191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GB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GB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GB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GB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sở</a:t>
            </a:r>
            <a:r>
              <a:rPr lang="en-GB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GB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thuyết</a:t>
            </a:r>
            <a:endParaRPr lang="en-US" sz="15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1.1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trúc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TCP/IP: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Stack 4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Application, Transport (TCP/UDP), Internet (IP), Link (Ethernet).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tầng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Transport,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reliable delivery, ordered segments, flow control (window), congestion control.</a:t>
            </a:r>
            <a:endParaRPr lang="en-GB" sz="15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.2 TCP 3-Way Handshake — chi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tiết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kỹ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— SYN (Client → Server)</a:t>
            </a:r>
            <a:endParaRPr lang="en-US" sz="15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Flag: SYN=1, ACK=0, Seq =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ISN_client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(Initial Sequence Number)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Options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SYN: MSS, Window Scale, SACK Permitted, Timestamps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ý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trao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ISN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— SYN/ACK (Server → Client)</a:t>
            </a:r>
            <a:endParaRPr lang="en-US" sz="15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Flag: SYN=1, ACK=1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Ack =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ISN_client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+ 1 (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SYN)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Seq =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ISN_server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(server ISN)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cũng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options (MSS, Window Scale, SACK, TS) — client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server negotiate options.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— ACK (Client → Server)</a:t>
            </a:r>
            <a:endParaRPr lang="en-US" sz="15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Flag: ACK=1, ACK =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ISN_server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+ 1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Seq =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ISN_client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+ 1 (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client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payload)</a:t>
            </a:r>
            <a:endParaRPr lang="en-US" sz="1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thúc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handshake →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cả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trạng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ESTABLISHED.</a:t>
            </a:r>
            <a:br>
              <a:rPr lang="en-GB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5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356B255-9EB8-8A1B-933A-91C0D359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322" y="-167951"/>
            <a:ext cx="5296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95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9F1AFFC-333C-4BB2-59B3-8565448C197D}"/>
              </a:ext>
            </a:extLst>
          </p:cNvPr>
          <p:cNvSpPr txBox="1"/>
          <p:nvPr/>
        </p:nvSpPr>
        <p:spPr>
          <a:xfrm>
            <a:off x="-1" y="0"/>
            <a:ext cx="11747242" cy="494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sở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thuyết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.3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TCP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ý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nghĩa</a:t>
            </a:r>
            <a:endParaRPr lang="en-US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 Port /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Dest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Port: 16 bits,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socket.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Sequence Number (32 bits):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vị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byte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tiên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payload.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Acknowledgment Number (32 bits):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byte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mong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đợi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theo.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Offset/Reserved: header length.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Flags: URG, ACK, PSH, RST, SYN, FIN —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SYN/ACK/FIN/RST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handshake/teardown.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Window Size: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flow control,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kèm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Window Scale option.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Checksum: integrity check.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Options: MSS, SACK Permitted, Timestamps (RFC 7323), Window Scale.</a:t>
            </a:r>
          </a:p>
          <a:p>
            <a:pPr marR="0" lvl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b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700" b="1" dirty="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154567C4-0E88-366D-086F-33AC13B5B60E}"/>
              </a:ext>
            </a:extLst>
          </p:cNvPr>
          <p:cNvSpPr txBox="1"/>
          <p:nvPr/>
        </p:nvSpPr>
        <p:spPr>
          <a:xfrm>
            <a:off x="-1" y="4528813"/>
            <a:ext cx="11476654" cy="1839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1.4.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rủi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cố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gặp</a:t>
            </a:r>
            <a:b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	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trễ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SYN-ACK</a:t>
            </a:r>
            <a:b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	SYN Flood (attacker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GB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GB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GB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GB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ACK)</a:t>
            </a:r>
            <a:b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	RST Injection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	</a:t>
            </a:r>
            <a:r>
              <a:rPr lang="en-GB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 Spoofing (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mạo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</a:t>
            </a:r>
            <a:r>
              <a:rPr lang="en-GB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GB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9080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9F1AFFC-333C-4BB2-59B3-8565448C197D}"/>
              </a:ext>
            </a:extLst>
          </p:cNvPr>
          <p:cNvSpPr txBox="1"/>
          <p:nvPr/>
        </p:nvSpPr>
        <p:spPr>
          <a:xfrm>
            <a:off x="0" y="0"/>
            <a:ext cx="6606073" cy="39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–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Môi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cụ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thí</a:t>
            </a: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Hình ảnh 1">
            <a:extLst>
              <a:ext uri="{FF2B5EF4-FFF2-40B4-BE49-F238E27FC236}">
                <a16:creationId xmlns:a16="http://schemas.microsoft.com/office/drawing/2014/main" id="{5BD633DA-1743-639A-C4E5-925B94A7C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775"/>
            <a:ext cx="7287207" cy="63399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6DA3D3DE-E1D3-B5E5-7CD4-E882FEF70C14}"/>
              </a:ext>
            </a:extLst>
          </p:cNvPr>
          <p:cNvSpPr txBox="1"/>
          <p:nvPr/>
        </p:nvSpPr>
        <p:spPr>
          <a:xfrm>
            <a:off x="7287207" y="1667025"/>
            <a:ext cx="6158204" cy="134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3.2.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Cấu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hình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(Host-only / Internal)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Kali: 192.168.56.11/24 (ens33)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Ubuntu: 192.168.56.10/24 (ens33)</a:t>
            </a:r>
            <a:b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Host-only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VMnet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VMnet1</a:t>
            </a:r>
            <a:endParaRPr lang="en-US" dirty="0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80CF0F0E-2A50-451E-03AB-849578623090}"/>
              </a:ext>
            </a:extLst>
          </p:cNvPr>
          <p:cNvSpPr txBox="1"/>
          <p:nvPr/>
        </p:nvSpPr>
        <p:spPr>
          <a:xfrm>
            <a:off x="7287207" y="3056355"/>
            <a:ext cx="5278794" cy="372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3.3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cụ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lệnh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cài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Kali: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apt update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apt install -y python3 python3-pip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tcpdump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iproute2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usermod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$USER  # optional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Ubuntu: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apt update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apt install -y python3 python3-pip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tcpdump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iproute2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211269EA-7BC2-1B31-55F4-D90A9B66DB41}"/>
              </a:ext>
            </a:extLst>
          </p:cNvPr>
          <p:cNvSpPr txBox="1"/>
          <p:nvPr/>
        </p:nvSpPr>
        <p:spPr>
          <a:xfrm>
            <a:off x="7287207" y="327793"/>
            <a:ext cx="6517432" cy="124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3.1.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hình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thí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nghiệm</a:t>
            </a:r>
            <a:b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 - Host Windows 11 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máy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b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 - VM Ubuntu Server 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máy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chủ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b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 - VM Kali Linux 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máy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tấn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thử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015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63AFA239-D75A-90BA-8792-E418C27ED5A1}"/>
              </a:ext>
            </a:extLst>
          </p:cNvPr>
          <p:cNvSpPr txBox="1"/>
          <p:nvPr/>
        </p:nvSpPr>
        <p:spPr>
          <a:xfrm>
            <a:off x="-1554" y="0"/>
            <a:ext cx="12010052" cy="274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3 -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lệnh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metrics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— Baseline (handshake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handshake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baseline RTT.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port 5000;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client→server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single connect.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start server.py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Ubuntu; start Wireshark (filter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tcp.port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== 5000)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Kali;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client.py.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Metrics: RTT SYN→SYN-ACK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Seq/Ack arithmetic; no retransmit.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Hình ảnh 4" descr="Ảnh có chứa văn bản, ảnh chụp màn hình, Phông chữ, Hình chữ nhật&#10;&#10;Nội dung do AI tạo ra có thể không chính xác.">
            <a:extLst>
              <a:ext uri="{FF2B5EF4-FFF2-40B4-BE49-F238E27FC236}">
                <a16:creationId xmlns:a16="http://schemas.microsoft.com/office/drawing/2014/main" id="{1CC186A0-38B2-F3F5-F659-4CCEBE5AD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571"/>
            <a:ext cx="12316408" cy="421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66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1446A37A-998C-9CE3-5C1D-62FDAA8F7114}"/>
              </a:ext>
            </a:extLst>
          </p:cNvPr>
          <p:cNvSpPr txBox="1"/>
          <p:nvPr/>
        </p:nvSpPr>
        <p:spPr>
          <a:xfrm>
            <a:off x="0" y="0"/>
            <a:ext cx="4341844" cy="594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3 -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— Limited SYN flood (lab-limited)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minh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họa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symptom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flood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(host-only).</a:t>
            </a:r>
            <a:endParaRPr lang="en-US" sz="2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client_many.py count = 100 (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tùy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host capacity).</a:t>
            </a:r>
            <a:endParaRPr lang="en-US" sz="2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bật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capture,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client_many.py, stop;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conversations.</a:t>
            </a:r>
            <a:endParaRPr lang="en-US" sz="2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Metrics: SYN rate (pkts/s), peak SYN_RECV on server.</a:t>
            </a:r>
            <a:endParaRPr lang="en-US" sz="25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Hình ảnh 6" descr="Ảnh có chứa văn bản, ảnh chụp màn hình, biểu đồ, Phông chữ&#10;&#10;Nội dung do AI tạo ra có thể không chính xác.">
            <a:extLst>
              <a:ext uri="{FF2B5EF4-FFF2-40B4-BE49-F238E27FC236}">
                <a16:creationId xmlns:a16="http://schemas.microsoft.com/office/drawing/2014/main" id="{6261DCC5-3BAE-DBA9-ED00-96C77677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844" y="0"/>
            <a:ext cx="7850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99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63AFA239-D75A-90BA-8792-E418C27ED5A1}"/>
              </a:ext>
            </a:extLst>
          </p:cNvPr>
          <p:cNvSpPr txBox="1"/>
          <p:nvPr/>
        </p:nvSpPr>
        <p:spPr>
          <a:xfrm>
            <a:off x="-1554" y="0"/>
            <a:ext cx="4844142" cy="36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3 -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Hình ảnh 1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021244F8-B616-18EE-614D-74D879B76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5" y="366382"/>
            <a:ext cx="7846682" cy="6491618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7EC5CDC5-C249-700D-52AC-DAE92F1A6680}"/>
              </a:ext>
            </a:extLst>
          </p:cNvPr>
          <p:cNvSpPr txBox="1"/>
          <p:nvPr/>
        </p:nvSpPr>
        <p:spPr>
          <a:xfrm>
            <a:off x="7977674" y="891174"/>
            <a:ext cx="4002830" cy="469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— RST Injection (middlebox iptables)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middlebox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chèn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VM middlebox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iptables -t filter -A FORWARD -p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--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dport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5000 -j REJECT --reject-with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-reset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route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Kali→Server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middlebox; capture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pcap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Kali &amp; Server.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Expected: Kali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middlebox IP, server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 (so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pcap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570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F11889A5-EA88-5409-B0CD-7C1A43404055}"/>
              </a:ext>
            </a:extLst>
          </p:cNvPr>
          <p:cNvSpPr txBox="1"/>
          <p:nvPr/>
        </p:nvSpPr>
        <p:spPr>
          <a:xfrm>
            <a:off x="-1" y="0"/>
            <a:ext cx="12120465" cy="195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3 -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 — IP spoofing 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trace)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vết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spoofing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spoofing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cộng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pcap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mẫu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tường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trace.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Expected: SYN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server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SYN/ACK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tới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ACK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FA168C75-2973-51FC-0D25-B0C7A93D2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320" y="1951174"/>
            <a:ext cx="9104941" cy="49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02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F4C0B67-662C-ED13-2ADC-E7AA8325930B}"/>
              </a:ext>
            </a:extLst>
          </p:cNvPr>
          <p:cNvSpPr txBox="1"/>
          <p:nvPr/>
        </p:nvSpPr>
        <p:spPr>
          <a:xfrm>
            <a:off x="-1554" y="0"/>
            <a:ext cx="9817358" cy="36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 —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andshake_baseline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238B5A26-392A-F624-9679-9F6ED358A18E}"/>
              </a:ext>
            </a:extLst>
          </p:cNvPr>
          <p:cNvSpPr txBox="1"/>
          <p:nvPr/>
        </p:nvSpPr>
        <p:spPr>
          <a:xfrm>
            <a:off x="-1553" y="366382"/>
            <a:ext cx="6990182" cy="2230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.1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andshake_baseline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"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tcpdump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eth1 -s 0 -w 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handshake_baseline.pcap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'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port 5000' 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python3 client.py 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"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python3 server.py 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</a:pPr>
            <a:r>
              <a:rPr lang="en-US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iểm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file packet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tiêm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filter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tcp.port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== 5000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9E599245-DF37-3C71-3BA5-3EDE3F044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6992"/>
            <a:ext cx="12192000" cy="4261007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3AE88C60-82B9-1608-E6B8-1A27A3F84ADE}"/>
              </a:ext>
            </a:extLst>
          </p:cNvPr>
          <p:cNvSpPr txBox="1"/>
          <p:nvPr/>
        </p:nvSpPr>
        <p:spPr>
          <a:xfrm>
            <a:off x="6856445" y="565668"/>
            <a:ext cx="54677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filter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lọc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Cụ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filter: 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cp.port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== 5000  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=&gt;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cổng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5000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lọc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ở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cổng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endParaRPr 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</a:t>
            </a:r>
          </a:p>
          <a:p>
            <a:pPr lvl="2"/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020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F4C0B67-662C-ED13-2ADC-E7AA8325930B}"/>
              </a:ext>
            </a:extLst>
          </p:cNvPr>
          <p:cNvSpPr txBox="1"/>
          <p:nvPr/>
        </p:nvSpPr>
        <p:spPr>
          <a:xfrm>
            <a:off x="-1554" y="0"/>
            <a:ext cx="6097554" cy="36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 —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238B5A26-392A-F624-9679-9F6ED358A18E}"/>
              </a:ext>
            </a:extLst>
          </p:cNvPr>
          <p:cNvSpPr txBox="1"/>
          <p:nvPr/>
        </p:nvSpPr>
        <p:spPr>
          <a:xfrm>
            <a:off x="-34212" y="366382"/>
            <a:ext cx="8108302" cy="2039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.2 Detect SYN Flood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"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tcpdump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eth1 -s 0 -w 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synflood_lab.pcap'tcp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port 5000'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python3 client_many.py --target 192.168.56.10 --port 5000 --count 150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"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python3 server.py 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Hình ảnh 1">
            <a:extLst>
              <a:ext uri="{FF2B5EF4-FFF2-40B4-BE49-F238E27FC236}">
                <a16:creationId xmlns:a16="http://schemas.microsoft.com/office/drawing/2014/main" id="{79D7A861-4354-7FB6-0454-22BB1774B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5" y="2699585"/>
            <a:ext cx="12193555" cy="4158415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D4A2E2EB-1DE5-9BA7-8D5A-CED745642250}"/>
              </a:ext>
            </a:extLst>
          </p:cNvPr>
          <p:cNvSpPr txBox="1"/>
          <p:nvPr/>
        </p:nvSpPr>
        <p:spPr>
          <a:xfrm>
            <a:off x="6979298" y="183191"/>
            <a:ext cx="50758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lọc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Cụ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filter: </a:t>
            </a: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tcp.flags.syn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== 1 &amp;&amp;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tcp.flags.ack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== 0 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=&gt;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= 1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ack = 0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Flood hay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bởi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Flood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ACK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hồi</a:t>
            </a:r>
            <a:endParaRPr 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</a:t>
            </a:r>
          </a:p>
          <a:p>
            <a:pPr lvl="2"/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323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F4C0B67-662C-ED13-2ADC-E7AA8325930B}"/>
              </a:ext>
            </a:extLst>
          </p:cNvPr>
          <p:cNvSpPr txBox="1"/>
          <p:nvPr/>
        </p:nvSpPr>
        <p:spPr>
          <a:xfrm>
            <a:off x="-1554" y="0"/>
            <a:ext cx="6097554" cy="36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 —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238B5A26-392A-F624-9679-9F6ED358A18E}"/>
              </a:ext>
            </a:extLst>
          </p:cNvPr>
          <p:cNvSpPr txBox="1"/>
          <p:nvPr/>
        </p:nvSpPr>
        <p:spPr>
          <a:xfrm>
            <a:off x="-1" y="366382"/>
            <a:ext cx="7193903" cy="164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.3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Detect RST Injection</a:t>
            </a:r>
            <a:endParaRPr lang="en-US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"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tcpdump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any -s 0 -w 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rst_injection_lab.pcap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'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port 5000’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python3 client.py 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</a:pPr>
            <a:r>
              <a:rPr lang="en-US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iểm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packet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tiêm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filter: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tcp.flags.reset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== 1 </a:t>
            </a:r>
            <a:endParaRPr lang="en-US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9AC1532F-07F9-C343-956C-163BD637E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56585"/>
            <a:ext cx="12191999" cy="4701416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6F91CD18-3859-DDE9-6130-EA977CF39449}"/>
              </a:ext>
            </a:extLst>
          </p:cNvPr>
          <p:cNvSpPr txBox="1"/>
          <p:nvPr/>
        </p:nvSpPr>
        <p:spPr>
          <a:xfrm>
            <a:off x="6774024" y="28566"/>
            <a:ext cx="5520610" cy="2128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6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python3 server.py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iptables -A OUTPUT -p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-flags RST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RST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-j DROP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iptables -A INPUT -p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dport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5000 -j REJECT --reject-with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-reset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ép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server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ngay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bất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packet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port 5000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170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F4C0B67-662C-ED13-2ADC-E7AA8325930B}"/>
              </a:ext>
            </a:extLst>
          </p:cNvPr>
          <p:cNvSpPr txBox="1"/>
          <p:nvPr/>
        </p:nvSpPr>
        <p:spPr>
          <a:xfrm>
            <a:off x="-1554" y="0"/>
            <a:ext cx="6097554" cy="36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 —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238B5A26-392A-F624-9679-9F6ED358A18E}"/>
              </a:ext>
            </a:extLst>
          </p:cNvPr>
          <p:cNvSpPr txBox="1"/>
          <p:nvPr/>
        </p:nvSpPr>
        <p:spPr>
          <a:xfrm>
            <a:off x="0" y="366382"/>
            <a:ext cx="13193486" cy="1349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.4 IP spoofing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"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tcpdump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any -s 0 -w ~/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ip_spoof_lab.pcap'tcp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port 5000'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python3 spoof_syn.py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(file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SYN)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C95A7B7A-B01E-13E1-BFED-E8D3834C1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6174"/>
            <a:ext cx="12192000" cy="504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44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F4C0B67-662C-ED13-2ADC-E7AA8325930B}"/>
              </a:ext>
            </a:extLst>
          </p:cNvPr>
          <p:cNvSpPr txBox="1"/>
          <p:nvPr/>
        </p:nvSpPr>
        <p:spPr>
          <a:xfrm>
            <a:off x="-1554" y="0"/>
            <a:ext cx="6097554" cy="36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 —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238B5A26-392A-F624-9679-9F6ED358A18E}"/>
              </a:ext>
            </a:extLst>
          </p:cNvPr>
          <p:cNvSpPr txBox="1"/>
          <p:nvPr/>
        </p:nvSpPr>
        <p:spPr>
          <a:xfrm>
            <a:off x="0" y="366382"/>
            <a:ext cx="13193486" cy="76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4.4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spoofing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"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python3 server.py </a:t>
            </a:r>
            <a:endParaRPr lang="en-US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1A8938B1-ABB5-0424-2DEC-2DFC641614E4}"/>
              </a:ext>
            </a:extLst>
          </p:cNvPr>
          <p:cNvSpPr txBox="1"/>
          <p:nvPr/>
        </p:nvSpPr>
        <p:spPr>
          <a:xfrm>
            <a:off x="-1554" y="1128963"/>
            <a:ext cx="11235611" cy="36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</a:pP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1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iểm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file packet </a:t>
            </a:r>
            <a:r>
              <a:rPr lang="en-US" sz="1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filter: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tcp.flags.syn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== 1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tcp.flags.ack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== 0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tcp.port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== 5000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6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B590717-823A-EA75-416A-B38F25E2F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1544"/>
            <a:ext cx="12191999" cy="4966456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7645F470-ECD8-4515-87DF-A04501FEB6F3}"/>
              </a:ext>
            </a:extLst>
          </p:cNvPr>
          <p:cNvSpPr txBox="1"/>
          <p:nvPr/>
        </p:nvSpPr>
        <p:spPr>
          <a:xfrm>
            <a:off x="137627" y="1522212"/>
            <a:ext cx="6620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=&gt;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gói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syn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server,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syn/ack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vì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ip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43947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367160BB-9770-B57A-D89D-DE920B916953}"/>
              </a:ext>
            </a:extLst>
          </p:cNvPr>
          <p:cNvSpPr txBox="1"/>
          <p:nvPr/>
        </p:nvSpPr>
        <p:spPr>
          <a:xfrm>
            <a:off x="0" y="0"/>
            <a:ext cx="7287208" cy="4480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 –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khuyến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nghị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GB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.1. </a:t>
            </a:r>
            <a:r>
              <a:rPr lang="en-GB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GB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GB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GB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vệ</a:t>
            </a:r>
            <a:r>
              <a:rPr lang="en-GB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TCP (SYN cookies, rate limiting)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 Cookies:</a:t>
            </a:r>
            <a:b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chống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Flood.</a:t>
            </a:r>
            <a:b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Server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SYN,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hoá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Sequence Number.</a:t>
            </a:r>
            <a:b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ACK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server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mới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tránh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đầy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9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Rate Limiting:</a:t>
            </a:r>
            <a:b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Giới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giây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flood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reset injection.</a:t>
            </a:r>
            <a:b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iptables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giới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10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/s.</a:t>
            </a:r>
            <a:endParaRPr lang="en-US" sz="19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5B9BD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iptables -A INPUT -p </a:t>
            </a:r>
            <a:r>
              <a:rPr lang="en-US" sz="1800" b="1" dirty="0" err="1">
                <a:solidFill>
                  <a:srgbClr val="5B9BD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en-US" sz="1800" b="1" dirty="0">
                <a:solidFill>
                  <a:srgbClr val="5B9BD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--syn -m limit --limit 10/s -j ACCEPT</a:t>
            </a:r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24805D0E-599C-8566-A11F-708615423260}"/>
              </a:ext>
            </a:extLst>
          </p:cNvPr>
          <p:cNvSpPr txBox="1"/>
          <p:nvPr/>
        </p:nvSpPr>
        <p:spPr>
          <a:xfrm>
            <a:off x="7548464" y="0"/>
            <a:ext cx="4394719" cy="453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.2.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sớm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IDS/IPS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log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endParaRPr lang="en-GB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IDS/IPS (Snort, Suricata):</a:t>
            </a:r>
            <a:b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SYN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bất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ACK.</a:t>
            </a:r>
            <a:b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Spoofing qua TTL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mẫu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 Injection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9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b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syslog,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dmesg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firewall log.</a:t>
            </a:r>
            <a:b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half‑open connections,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RST, TTL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9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78B4CCB8-4F85-FE05-B695-C9074A9AFB6A}"/>
              </a:ext>
            </a:extLst>
          </p:cNvPr>
          <p:cNvSpPr txBox="1"/>
          <p:nvPr/>
        </p:nvSpPr>
        <p:spPr>
          <a:xfrm>
            <a:off x="-410547" y="4150206"/>
            <a:ext cx="6120880" cy="65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b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5.3.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Biện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mạo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</a:t>
            </a:r>
            <a:r>
              <a:rPr lang="en-GB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reset injection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5F17F054-FEF7-B429-F154-C2483C28939B}"/>
              </a:ext>
            </a:extLst>
          </p:cNvPr>
          <p:cNvSpPr txBox="1"/>
          <p:nvPr/>
        </p:nvSpPr>
        <p:spPr>
          <a:xfrm>
            <a:off x="235790" y="4845601"/>
            <a:ext cx="5306593" cy="164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Chống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Spoofing:</a:t>
            </a:r>
            <a:b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Bật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rp_filter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Router/firewall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ingress/egress filtering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chuẩn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BCP 38).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5B9BD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echo 1 &gt; /proc/sys/net/ipv4/conf/all/</a:t>
            </a:r>
            <a:r>
              <a:rPr lang="en-US" sz="1800" b="1" dirty="0" err="1">
                <a:solidFill>
                  <a:srgbClr val="5B9BD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rp_filter</a:t>
            </a:r>
            <a:endParaRPr lang="en-US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7F5732B8-15A2-750E-6804-DAA6E250307C}"/>
              </a:ext>
            </a:extLst>
          </p:cNvPr>
          <p:cNvSpPr txBox="1"/>
          <p:nvPr/>
        </p:nvSpPr>
        <p:spPr>
          <a:xfrm>
            <a:off x="5334777" y="4845601"/>
            <a:ext cx="6302828" cy="183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 Injection:</a:t>
            </a:r>
            <a:b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Sequence Number random →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Firewall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phép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RST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drop RST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bất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VPN/TLS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attacker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nhìn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TCP.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225172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1859</Words>
  <Application>Microsoft Office PowerPoint</Application>
  <PresentationFormat>Màn hình rộng</PresentationFormat>
  <Paragraphs>134</Paragraphs>
  <Slides>14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Symbol</vt:lpstr>
      <vt:lpstr>Times New Roman</vt:lpstr>
      <vt:lpstr>Wingdings</vt:lpstr>
      <vt:lpstr>Chủ đề Office</vt:lpstr>
      <vt:lpstr>ĐỀ TÀI: KIẾN TRÚC TCP/IP VÀ CÁC KỊCH BẢN XẢY RA TRONG MÔ HÌNH BẮT TAY 3 BƯỚC BẰNG WIRESHARK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Đắc Trọng</dc:creator>
  <cp:lastModifiedBy>Đắc Trọng</cp:lastModifiedBy>
  <cp:revision>30</cp:revision>
  <dcterms:created xsi:type="dcterms:W3CDTF">2025-11-23T10:09:02Z</dcterms:created>
  <dcterms:modified xsi:type="dcterms:W3CDTF">2025-11-30T09:01:34Z</dcterms:modified>
</cp:coreProperties>
</file>