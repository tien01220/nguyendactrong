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71" r:id="rId2"/>
    <p:sldId id="277" r:id="rId3"/>
    <p:sldId id="272" r:id="rId4"/>
    <p:sldId id="273" r:id="rId5"/>
    <p:sldId id="274" r:id="rId6"/>
    <p:sldId id="275" r:id="rId7"/>
    <p:sldId id="276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9E7E294-7775-2443-B54D-A3289D643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036CC312-46F5-9D89-9888-909577988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5CE06B4-6FD5-DB28-BB77-2F50029B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5493D96-3446-7394-C276-83654893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0622A36-9116-91B3-8FB1-765C4DA14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8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82BFF25-E857-5334-974D-D6786366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ABFDD36-79DC-8AFE-6284-2185EE7F0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CB1E844-FE3F-B63B-6874-5EDBE12C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A5BECFE-7991-6CE6-9E0A-8FE90E82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E291062-B029-7192-AA7E-FC25E8DF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8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A12C11B-52FB-850B-C3D2-9F56E00D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E1731FA-EA70-D5E7-E2D1-9E07FA995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4C34F9F-60B8-35D4-B1E8-5748117C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8784E2C-90FF-5835-6314-6C746DA5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32F8568-5AB7-0294-B36E-61819833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6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882FAC-2224-4C83-B2BF-C60E3B64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58DC645-DD9A-44AE-7AEC-F05E99E25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5494C4F6-B39E-3784-6CB7-E3A299A38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0C5882E7-A2CF-4252-4CC2-3F7E83A1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F0B322D-647E-8448-A8D3-631DC922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D3FE808C-B971-3719-F754-E78012E4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62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C0FCFA0-3ECA-56F2-FEE7-40D4420CA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F570A6E-4DEC-D791-FE37-1FF43C9A0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C292F45-4F01-975D-7B31-CC51E6CD8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4AC67416-A13D-748C-A06D-26BC19CE6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7864095E-D991-25E8-19D1-5DB55BDCF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1BC7AA33-D2D9-B38E-99BD-1AB38C7AA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E77E9FAB-AAAF-4B26-1448-5ECF0C87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4CA0E6E8-6B96-3B68-2BC3-8154DE8A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5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0137614-0432-F60D-9E33-2DCF860A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D7885E7-721C-5EF7-4D1C-2D024DA0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EA4FDAE2-1900-3F3E-6417-2A3E5446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DC03673-9F89-B1E9-D9A7-3DB3C848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5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BFEB9C30-7C94-E746-2D58-B143F3F31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DA661EA9-16C6-D92C-91AA-D265BDEC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FBAEB60-8644-F7B8-53B5-945BD74D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416DD1C-5F38-3305-E8CB-EE293F8C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6794FE2-CFB3-D3A5-DCF7-C891D0A6E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F5D6386-FBE0-C21D-F4AC-B2D1DD6EB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0C740EA3-92F5-7013-DC94-517EFD20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09F3C63-D57B-A4F0-D152-078431B5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5482B46-75E3-7FA1-26CA-CA458FB32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1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6761F0F-B926-E9AD-8C89-65048CE7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9D5FAD03-4E93-EA80-4B66-1B37E00B1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183D64BF-8C8E-6299-18D4-14AC1DBE6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959BABE-5F3E-4D84-E385-F83F174E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D2BEE68-79F8-AF72-A5E5-78B59C77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4AE3FB5-FE2E-D3E9-77CB-4F703B6A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2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47885AC-43F8-7C61-9C54-7D8B2CFC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30B7CD0-7449-FA12-ACF0-98E34D397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DC02B72-5CF7-84C2-DFAA-1BF340E7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F6A7574-7E7D-C614-1863-EF87E3FBC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074C84C-F3B6-AB25-BC4A-04FBA624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7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70F1F0C1-7E19-22D9-E513-CD3D4E833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3806686-CAE1-8CBC-DA6D-D927BEAF8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92542D3-859B-7334-2972-B9F7A348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9E1BCBB-4B1E-E1D6-F849-B2E6324C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2F31AB1-8166-0B09-7B07-A9650A1C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9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33D09309-23E0-73C2-EB94-C73825876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A401412-A3BC-8CD0-06C3-DB85CBDDA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C62490A-FF1F-E4FC-118A-D00A33096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C19BF-1C65-41C0-BDA1-6FF2B181F94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441352D-4693-EC77-B486-3AF92B3E4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3C72A67-8FB9-BB2B-B9B8-459BFED6E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EF687-B624-402E-8562-B4C1EFB0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7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89D0-811B-D401-F4F3-45B90B5B2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706" y="2085584"/>
            <a:ext cx="10202588" cy="1627665"/>
          </a:xfrm>
        </p:spPr>
        <p:txBody>
          <a:bodyPr>
            <a:no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ĐỀ TÀI: 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 MANET VÀ GIAO THỨC ĐỊNH TUYẾN DSR, AODV KẾT HỢP MÃ HÓA AES CƠ CHẾ CBC</a:t>
            </a:r>
            <a:br>
              <a:rPr lang="en-US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5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3DBF2-3863-2F9E-9421-F8BBCDAEF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844" y="3553868"/>
            <a:ext cx="7682202" cy="275939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Học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phần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lang="en-US" sz="3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Sinh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viên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thực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hiện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Nguyễn</a:t>
            </a:r>
            <a:r>
              <a:rPr 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Đắc Trọng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/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Mã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sinh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viên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22T1020777</a:t>
            </a:r>
          </a:p>
          <a:p>
            <a:pPr algn="l"/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Giảng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viên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hướng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dẫn</a:t>
            </a:r>
            <a:r>
              <a:rPr lang="en-US" sz="3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lang="en-US" sz="3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PGS.TS. Võ Thanh Tú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1B4EAE1-3E2A-1C2F-641E-63FF3AFE2B35}"/>
              </a:ext>
            </a:extLst>
          </p:cNvPr>
          <p:cNvSpPr txBox="1"/>
          <p:nvPr/>
        </p:nvSpPr>
        <p:spPr>
          <a:xfrm>
            <a:off x="1132943" y="72595"/>
            <a:ext cx="10530321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/>
                <a:cs typeface="Times New Roman"/>
              </a:rPr>
              <a:t>TRƯỜNG ĐẠI HỌC KHOA HỌC - </a:t>
            </a:r>
            <a:r>
              <a:rPr lang="en-US" sz="3500" b="1" dirty="0">
                <a:latin typeface="Times New Roman"/>
                <a:cs typeface="Segoe UI"/>
              </a:rPr>
              <a:t>ĐẠI HỌC HUẾ</a:t>
            </a:r>
          </a:p>
          <a:p>
            <a:r>
              <a:rPr sz="3500" dirty="0">
                <a:latin typeface="Times New Roman"/>
                <a:ea typeface="Calibri"/>
                <a:cs typeface="Calibri"/>
              </a:rPr>
              <a:t>​</a:t>
            </a:r>
            <a:endParaRPr lang="vi-VN" sz="3500" dirty="0">
              <a:latin typeface="Times New Roman"/>
              <a:cs typeface="Times New Roman"/>
            </a:endParaRPr>
          </a:p>
          <a:p>
            <a:pPr algn="ctr"/>
            <a:endParaRPr lang="vi-VN" sz="3500" dirty="0">
              <a:latin typeface="Times New Roman"/>
              <a:cs typeface="Times New Roman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2BBB5047-B5CD-D5A4-EB0D-20C1E42103EE}"/>
              </a:ext>
            </a:extLst>
          </p:cNvPr>
          <p:cNvSpPr txBox="1"/>
          <p:nvPr/>
        </p:nvSpPr>
        <p:spPr>
          <a:xfrm>
            <a:off x="2516724" y="782304"/>
            <a:ext cx="7158552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/>
                <a:cs typeface="Times New Roman"/>
              </a:rPr>
              <a:t>KHOA CÔNG NGHỆ THÔNG TIN</a:t>
            </a:r>
            <a:endParaRPr lang="en-US" sz="35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E0979291-E02D-4704-D3D8-09E3420FAEF5}"/>
              </a:ext>
            </a:extLst>
          </p:cNvPr>
          <p:cNvSpPr txBox="1"/>
          <p:nvPr/>
        </p:nvSpPr>
        <p:spPr>
          <a:xfrm>
            <a:off x="9024620" y="6489700"/>
            <a:ext cx="35991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dirty="0">
                <a:latin typeface="Times New Roman"/>
                <a:cs typeface="Arial"/>
              </a:rPr>
              <a:t>Huế, ngày </a:t>
            </a:r>
            <a:r>
              <a:rPr lang="en-US" dirty="0">
                <a:latin typeface="Times New Roman"/>
                <a:cs typeface="Arial"/>
              </a:rPr>
              <a:t>4</a:t>
            </a:r>
            <a:r>
              <a:rPr lang="vi-VN" dirty="0">
                <a:latin typeface="Times New Roman"/>
                <a:cs typeface="Arial"/>
              </a:rPr>
              <a:t> tháng 12 năm 2025</a:t>
            </a:r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2B7C3EE-D8CC-385C-6CF7-4AC26DC4B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18" y="3192930"/>
            <a:ext cx="2703911" cy="312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7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947ED5A-CAA3-C165-779D-069D02C5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0" y="0"/>
            <a:ext cx="8164286" cy="485289"/>
          </a:xfrm>
        </p:spPr>
        <p:txBody>
          <a:bodyPr>
            <a:noAutofit/>
          </a:bodyPr>
          <a:lstStyle/>
          <a:p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GIỚI THIỆU VỀ MẠNG MANET </a:t>
            </a:r>
            <a:endParaRPr lang="en-US" sz="3000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6AEFB4-01F1-E0D4-ADD4-56263D95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85290"/>
            <a:ext cx="12192000" cy="1010881"/>
          </a:xfrm>
        </p:spPr>
        <p:txBody>
          <a:bodyPr/>
          <a:lstStyle/>
          <a:p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MANET (Mobile Ad-hoc Network)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loại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nơi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nút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(nodes) di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lập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nối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sở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tầng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access point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router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tâm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nút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trò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kép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vừa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host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gửi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vừa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router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nút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  <a:endParaRPr lang="en-US" dirty="0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BC892CE-A6B9-1E74-91A6-71DE3184C3D9}"/>
              </a:ext>
            </a:extLst>
          </p:cNvPr>
          <p:cNvSpPr txBox="1"/>
          <p:nvPr/>
        </p:nvSpPr>
        <p:spPr>
          <a:xfrm>
            <a:off x="0" y="1263403"/>
            <a:ext cx="4861249" cy="5426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trưng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dẫn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topology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(dynamic topology).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tâm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dây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sóng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vô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WiFi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Bluetooth, 5G/6G),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hop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Pin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yếu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băng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nhiễu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(interference)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(eavesdropping).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Hình ảnh 5" descr="MANET ROUTING PROTOCOLS. Authors : Aditya Patil, Anuja… | by Surabhi  Deshpande | Medium">
            <a:extLst>
              <a:ext uri="{FF2B5EF4-FFF2-40B4-BE49-F238E27FC236}">
                <a16:creationId xmlns:a16="http://schemas.microsoft.com/office/drawing/2014/main" id="{F4526CC7-15E1-7075-65CE-4F476F244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529" y="1576873"/>
            <a:ext cx="7016621" cy="47386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441716F-DE0C-B8F1-7EB2-EB732A58DC91}"/>
              </a:ext>
            </a:extLst>
          </p:cNvPr>
          <p:cNvSpPr txBox="1"/>
          <p:nvPr/>
        </p:nvSpPr>
        <p:spPr>
          <a:xfrm>
            <a:off x="5659016" y="6315555"/>
            <a:ext cx="6167534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1: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sơ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họa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MANET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982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81038AE-5CE1-C2F6-9533-F5895CC18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826690" cy="483961"/>
          </a:xfrm>
        </p:spPr>
        <p:txBody>
          <a:bodyPr>
            <a:noAutofit/>
          </a:bodyPr>
          <a:lstStyle/>
          <a:p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CÁC GIAO THỨC ĐỊNH TUYẾN TRONG MANET </a:t>
            </a:r>
            <a:endParaRPr lang="en-US" sz="3000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CF59066-86C0-4CB3-5739-E8EED1A9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41" y="483960"/>
            <a:ext cx="11795449" cy="5646251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Proactive (Table-driven)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Duy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tục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DSDV, OLSR).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Route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sẵn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sàng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Overhead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Reactive (On-demand)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AODV, DSR).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kiệm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băng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trễ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AODV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thuộc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reactive,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MANET do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overhead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428A8CAC-570F-1A84-B5EA-8C707900D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4" y="2758117"/>
            <a:ext cx="7604448" cy="3718560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E4F9510-87A4-54EA-3515-4F88C6E4F6BA}"/>
              </a:ext>
            </a:extLst>
          </p:cNvPr>
          <p:cNvSpPr txBox="1"/>
          <p:nvPr/>
        </p:nvSpPr>
        <p:spPr>
          <a:xfrm>
            <a:off x="1871565" y="6476677"/>
            <a:ext cx="844887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2: Ba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0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9192CA4-34A7-CD12-3098-17F75A76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2622"/>
          </a:xfrm>
        </p:spPr>
        <p:txBody>
          <a:bodyPr>
            <a:normAutofit fontScale="90000"/>
          </a:bodyPr>
          <a:lstStyle/>
          <a:p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GIAO THỨC ĐỊNH TUYẾN DSR(Dynamic Source Routing)</a:t>
            </a:r>
            <a:endParaRPr lang="en-US" sz="3000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EC043C5-A06E-AFF3-75A9-1EF5255C8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2621"/>
            <a:ext cx="12192000" cy="1438145"/>
          </a:xfrm>
        </p:spPr>
        <p:txBody>
          <a:bodyPr>
            <a:noAutofit/>
          </a:bodyPr>
          <a:lstStyle/>
          <a:p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DSR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(reactive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on-demand)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dành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riêng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ad-hoc di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(MANET - Mobile Ad-hoc Network).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phép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dây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kiếm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sở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tầng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cố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DSR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"source routing" (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nơi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header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tin,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giúp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phức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tạp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B0F1FCD-E4FA-491C-9EB9-057857CE6937}"/>
              </a:ext>
            </a:extLst>
          </p:cNvPr>
          <p:cNvSpPr txBox="1"/>
          <p:nvPr/>
        </p:nvSpPr>
        <p:spPr>
          <a:xfrm>
            <a:off x="124408" y="2393814"/>
            <a:ext cx="12067592" cy="4352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3. 1.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(On-demand):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overhead so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(proactive).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 Routing: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header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giúp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loop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dàng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route cache.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 Cache: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nhớ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đệm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promiscuous mode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traffic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cập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cache).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unicast: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extension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multicast.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UDP/IP: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UDP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topology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nhanh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32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52B4D13-CAD3-9768-A06A-9E67C2C98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30613"/>
            <a:ext cx="12559004" cy="6224749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3.2.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DSR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Discovery)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Maintenance).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cache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3.3.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Khám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Discovery)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(source)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(destination)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cache.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sóng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(broadcast) Route Request (RREQ)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 record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rỗng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address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cache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ngay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Reply (RREP)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record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loop),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sóng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 RREQ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đảo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record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đủ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RREP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unicast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flood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hồi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TTL.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iêu đề 1">
            <a:extLst>
              <a:ext uri="{FF2B5EF4-FFF2-40B4-BE49-F238E27FC236}">
                <a16:creationId xmlns:a16="http://schemas.microsoft.com/office/drawing/2014/main" id="{C12357F4-EEBA-C3B8-8783-EF5CEC7B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30614"/>
          </a:xfrm>
        </p:spPr>
        <p:txBody>
          <a:bodyPr>
            <a:normAutofit/>
          </a:bodyPr>
          <a:lstStyle/>
          <a:p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GIAO THỨC ĐỊNH TUYẾN DSR(Dynamic Source Routing)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68557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êu đề 1">
            <a:extLst>
              <a:ext uri="{FF2B5EF4-FFF2-40B4-BE49-F238E27FC236}">
                <a16:creationId xmlns:a16="http://schemas.microsoft.com/office/drawing/2014/main" id="{04EA2558-0BD8-2CF6-24CE-29F16AB6548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502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kern="1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GIAO THỨC ĐỊNH TUYẾN DSR(Dynamic Source Routing)</a:t>
            </a:r>
            <a:endParaRPr lang="en-US" sz="3000" dirty="0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1C398579-C413-B611-8ACC-CAB084F33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811" y="677960"/>
            <a:ext cx="4890332" cy="5741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4F8ECAD-6053-FB9E-B3DF-4EA2A50D8A03}"/>
              </a:ext>
            </a:extLst>
          </p:cNvPr>
          <p:cNvSpPr txBox="1"/>
          <p:nvPr/>
        </p:nvSpPr>
        <p:spPr>
          <a:xfrm>
            <a:off x="6739035" y="6407760"/>
            <a:ext cx="616286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3: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sơ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CF40BBA-C179-923E-07FD-AD1286FE5CBF}"/>
              </a:ext>
            </a:extLst>
          </p:cNvPr>
          <p:cNvSpPr txBox="1"/>
          <p:nvPr/>
        </p:nvSpPr>
        <p:spPr>
          <a:xfrm>
            <a:off x="108857" y="380103"/>
            <a:ext cx="7355634" cy="624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minh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họa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dạng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văn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 → RREQ (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rỗng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→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→ RREQ (S-A) →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 → RREQ (S-A-B) →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↑                  ↑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|                  |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RREP (D-B-A-S) ←←←←←←←←←←←←←←←←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RREQ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tỏa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record; RREP quay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đầy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đủ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S-A-B-D.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3.4. Duy </a:t>
            </a:r>
            <a:r>
              <a:rPr lang="en-US" sz="17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Maintenance)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 Error (RERR):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hỏng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(do di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RERR unicast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hỏng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xóa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cache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khởi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discovery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mới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Salvage: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thử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thế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cache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link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hỏng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RERR.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Promiscuous Mode: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nghe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traffic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cập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cache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Hết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cache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xóa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RERR.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60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0" y="0"/>
            <a:ext cx="13202816" cy="546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GIAO THỨC ĐỊNH TUYẾN AODV (Ad-hoc On-Demand Distance Vector)</a:t>
            </a:r>
            <a:endParaRPr lang="en-US" sz="2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DA641DC-624A-17AC-94CD-A1B72F1A0497}"/>
              </a:ext>
            </a:extLst>
          </p:cNvPr>
          <p:cNvSpPr txBox="1"/>
          <p:nvPr/>
        </p:nvSpPr>
        <p:spPr>
          <a:xfrm>
            <a:off x="0" y="546368"/>
            <a:ext cx="12192000" cy="605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AODV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(reactive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on-demand)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dành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riêng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ad-hoc di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(MANET - Mobile Ad-hoc Network).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giúp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dây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kiếm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sở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tầng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cố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4.1.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Trưng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trưng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(On-demand)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nhu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overhead so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(proactive).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sequence number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lặp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(routing loops)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đảm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tươi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mới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unicast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multicast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Phù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dây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Zigbee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VANET.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UDP/IP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điệp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UDP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đơn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khai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backoff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nhị</a:t>
            </a: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Request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hồi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AODV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đặc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biệt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cao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nơi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topology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thay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đổi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thường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xuyên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như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cứu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thiên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tai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xe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lái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81694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0" y="0"/>
            <a:ext cx="13081518" cy="546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GIAO THỨC ĐỊNH TUYẾN AODV (Ad-hoc On-Demand Distance Vector)</a:t>
            </a:r>
            <a:endParaRPr lang="en-US" sz="2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F6E9DB88-A5F1-DE2D-35E8-2849ED892886}"/>
              </a:ext>
            </a:extLst>
          </p:cNvPr>
          <p:cNvSpPr txBox="1"/>
          <p:nvPr/>
        </p:nvSpPr>
        <p:spPr>
          <a:xfrm>
            <a:off x="0" y="425070"/>
            <a:ext cx="5893838" cy="195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4.2.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AODV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AODV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Khám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Discovery)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Maintenance)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(routing table)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next-hop,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hop, sequence number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(lifetime).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Hình ảnh 3" descr="Ngô Hữu Dũng Blog: Ad Hoc On-Demand Distance Vector">
            <a:extLst>
              <a:ext uri="{FF2B5EF4-FFF2-40B4-BE49-F238E27FC236}">
                <a16:creationId xmlns:a16="http://schemas.microsoft.com/office/drawing/2014/main" id="{5BA7349B-7CC7-9384-CD6E-E94CDA86B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7" y="2496464"/>
            <a:ext cx="5791200" cy="378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153562C-70F4-6FCE-62BF-EE98170528B2}"/>
              </a:ext>
            </a:extLst>
          </p:cNvPr>
          <p:cNvSpPr txBox="1"/>
          <p:nvPr/>
        </p:nvSpPr>
        <p:spPr>
          <a:xfrm>
            <a:off x="-379445" y="6432930"/>
            <a:ext cx="6606072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4: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ngược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reverse path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6D03CA7-CE42-BD45-2AAB-56498111EE27}"/>
              </a:ext>
            </a:extLst>
          </p:cNvPr>
          <p:cNvSpPr txBox="1"/>
          <p:nvPr/>
        </p:nvSpPr>
        <p:spPr>
          <a:xfrm>
            <a:off x="5893837" y="434402"/>
            <a:ext cx="6400801" cy="654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4.3. </a:t>
            </a:r>
            <a:r>
              <a:rPr lang="en-US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Khám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Discovery)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(source)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(destination)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sóng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(broadcast)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 Request (RREQ)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Broadcast ID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lặp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Sequence number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ước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Hop count = 0.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(TTL)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tỏa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RREQ: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Broadcast ID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sequence number).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tươi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(sequence number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ngay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 Reply (RREP)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ngược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hop count,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cập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ngược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sóng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54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0" y="0"/>
            <a:ext cx="13202816" cy="546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GIAO THỨC ĐỊNH TUYẾN AODV (Ad-hoc On-Demand Distance Vector)</a:t>
            </a:r>
            <a:endParaRPr lang="en-US" sz="2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880A5B6B-CCAC-2458-8EEA-2979ECA93259}"/>
              </a:ext>
            </a:extLst>
          </p:cNvPr>
          <p:cNvSpPr txBox="1"/>
          <p:nvPr/>
        </p:nvSpPr>
        <p:spPr>
          <a:xfrm>
            <a:off x="0" y="453117"/>
            <a:ext cx="4857750" cy="638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4.4. Duy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(Route Maintenance)</a:t>
            </a:r>
            <a:endParaRPr lang="en-US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Hello Messages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sóng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Hello (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dạng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xóm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Hello,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hết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Lỗi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hỏng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(do di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upstream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 Error (RERR)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unicast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ảnh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hưởng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Sửa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Chữa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Cục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(Local Repair)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thử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hop count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RREQ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sửa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khởi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Hết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Tuyến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đường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xóa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nhất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RERR.</a:t>
            </a:r>
            <a:endParaRPr lang="en-US" sz="1900" dirty="0"/>
          </a:p>
        </p:txBody>
      </p:sp>
      <p:graphicFrame>
        <p:nvGraphicFramePr>
          <p:cNvPr id="12" name="Bảng 11">
            <a:extLst>
              <a:ext uri="{FF2B5EF4-FFF2-40B4-BE49-F238E27FC236}">
                <a16:creationId xmlns:a16="http://schemas.microsoft.com/office/drawing/2014/main" id="{6ACD1215-6492-8BCE-008D-CE953766B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634310"/>
              </p:ext>
            </p:extLst>
          </p:nvPr>
        </p:nvGraphicFramePr>
        <p:xfrm>
          <a:off x="4991100" y="1582310"/>
          <a:ext cx="7200901" cy="47422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7565">
                  <a:extLst>
                    <a:ext uri="{9D8B030D-6E8A-4147-A177-3AD203B41FA5}">
                      <a16:colId xmlns:a16="http://schemas.microsoft.com/office/drawing/2014/main" val="962305284"/>
                    </a:ext>
                  </a:extLst>
                </a:gridCol>
                <a:gridCol w="1721860">
                  <a:extLst>
                    <a:ext uri="{9D8B030D-6E8A-4147-A177-3AD203B41FA5}">
                      <a16:colId xmlns:a16="http://schemas.microsoft.com/office/drawing/2014/main" val="384316260"/>
                    </a:ext>
                  </a:extLst>
                </a:gridCol>
                <a:gridCol w="4181476">
                  <a:extLst>
                    <a:ext uri="{9D8B030D-6E8A-4147-A177-3AD203B41FA5}">
                      <a16:colId xmlns:a16="http://schemas.microsoft.com/office/drawing/2014/main" val="2952396816"/>
                    </a:ext>
                  </a:extLst>
                </a:gridCol>
              </a:tblGrid>
              <a:tr h="6925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Thông Điệp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Mục Đích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Cấu Trúc Chính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405338"/>
                  </a:ext>
                </a:extLst>
              </a:tr>
              <a:tr h="13499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RREQ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Khám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phá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tuyến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Type=1, Flags (J: Join, R: Repair), Hop Count, RREQ ID, </a:t>
                      </a:r>
                      <a:r>
                        <a:rPr lang="en-US" sz="1300" kern="100" dirty="0" err="1">
                          <a:effectLst/>
                        </a:rPr>
                        <a:t>Dest</a:t>
                      </a:r>
                      <a:r>
                        <a:rPr lang="en-US" sz="1300" kern="100" dirty="0">
                          <a:effectLst/>
                        </a:rPr>
                        <a:t> IP &amp; Seq No, </a:t>
                      </a:r>
                      <a:r>
                        <a:rPr lang="en-US" sz="1300" kern="100" dirty="0" err="1">
                          <a:effectLst/>
                        </a:rPr>
                        <a:t>Orig</a:t>
                      </a:r>
                      <a:r>
                        <a:rPr lang="en-US" sz="1300" kern="100" dirty="0">
                          <a:effectLst/>
                        </a:rPr>
                        <a:t> IP &amp; Seq No.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92112291"/>
                  </a:ext>
                </a:extLst>
              </a:tr>
              <a:tr h="13499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RREP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Phản hồi tuyến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Type=2, Flags (A: Ack required), Prefix Size, Hop Count, </a:t>
                      </a:r>
                      <a:r>
                        <a:rPr lang="en-US" sz="1300" kern="100" dirty="0" err="1">
                          <a:effectLst/>
                        </a:rPr>
                        <a:t>Dest</a:t>
                      </a:r>
                      <a:r>
                        <a:rPr lang="en-US" sz="1300" kern="100" dirty="0">
                          <a:effectLst/>
                        </a:rPr>
                        <a:t> IP &amp; Seq No, </a:t>
                      </a:r>
                      <a:r>
                        <a:rPr lang="en-US" sz="1300" kern="100" dirty="0" err="1">
                          <a:effectLst/>
                        </a:rPr>
                        <a:t>Orig</a:t>
                      </a:r>
                      <a:r>
                        <a:rPr lang="en-US" sz="1300" kern="100" dirty="0">
                          <a:effectLst/>
                        </a:rPr>
                        <a:t> IP, Lifetime.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3563286"/>
                  </a:ext>
                </a:extLst>
              </a:tr>
              <a:tr h="13499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RERR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Báo lỗi tuyến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Type=3, N flag (No delete), </a:t>
                      </a:r>
                      <a:r>
                        <a:rPr lang="en-US" sz="1300" kern="100" dirty="0" err="1">
                          <a:effectLst/>
                        </a:rPr>
                        <a:t>Dest</a:t>
                      </a:r>
                      <a:r>
                        <a:rPr lang="en-US" sz="1300" kern="100" dirty="0">
                          <a:effectLst/>
                        </a:rPr>
                        <a:t> Count, Danh </a:t>
                      </a:r>
                      <a:r>
                        <a:rPr lang="en-US" sz="1300" kern="100" dirty="0" err="1">
                          <a:effectLst/>
                        </a:rPr>
                        <a:t>sách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đích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không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đạt</a:t>
                      </a:r>
                      <a:r>
                        <a:rPr lang="en-US" sz="1300" kern="100" dirty="0">
                          <a:effectLst/>
                        </a:rPr>
                        <a:t> (IP + Seq No).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5009459"/>
                  </a:ext>
                </a:extLst>
              </a:tr>
            </a:tbl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742B7634-E7CE-05DC-550D-49EAA04F0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1" y="453117"/>
            <a:ext cx="7200900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4.5.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ú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Thông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Điệp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AODV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điệp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thước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nhỏ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gọn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20-40 bytes):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4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0" y="-111968"/>
            <a:ext cx="7707086" cy="658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3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SO SÁNH GIỮA AODV VÀ DSR </a:t>
            </a:r>
            <a:endParaRPr lang="en-US" sz="30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E082F1BE-4FD5-B225-B3C3-CF105951EB39}"/>
              </a:ext>
            </a:extLst>
          </p:cNvPr>
          <p:cNvSpPr txBox="1"/>
          <p:nvPr/>
        </p:nvSpPr>
        <p:spPr>
          <a:xfrm>
            <a:off x="0" y="439881"/>
            <a:ext cx="12192000" cy="11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AODV (Ad-hoc On-Demand Distance Vector)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DSR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reactive,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route: AODV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routing table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(next-hop), DSR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source routing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header).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metrics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simulation NS-3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2025).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Bảng 3">
            <a:extLst>
              <a:ext uri="{FF2B5EF4-FFF2-40B4-BE49-F238E27FC236}">
                <a16:creationId xmlns:a16="http://schemas.microsoft.com/office/drawing/2014/main" id="{D84974F3-C9BA-41FF-A996-5C87CEAD7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624681"/>
              </p:ext>
            </p:extLst>
          </p:nvPr>
        </p:nvGraphicFramePr>
        <p:xfrm>
          <a:off x="0" y="1620012"/>
          <a:ext cx="12192002" cy="5237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84500">
                  <a:extLst>
                    <a:ext uri="{9D8B030D-6E8A-4147-A177-3AD203B41FA5}">
                      <a16:colId xmlns:a16="http://schemas.microsoft.com/office/drawing/2014/main" val="1466436129"/>
                    </a:ext>
                  </a:extLst>
                </a:gridCol>
                <a:gridCol w="4591508">
                  <a:extLst>
                    <a:ext uri="{9D8B030D-6E8A-4147-A177-3AD203B41FA5}">
                      <a16:colId xmlns:a16="http://schemas.microsoft.com/office/drawing/2014/main" val="4209093007"/>
                    </a:ext>
                  </a:extLst>
                </a:gridCol>
                <a:gridCol w="4215994">
                  <a:extLst>
                    <a:ext uri="{9D8B030D-6E8A-4147-A177-3AD203B41FA5}">
                      <a16:colId xmlns:a16="http://schemas.microsoft.com/office/drawing/2014/main" val="627208131"/>
                    </a:ext>
                  </a:extLst>
                </a:gridCol>
              </a:tblGrid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Khía Cạnh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AODV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DSR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4200240"/>
                  </a:ext>
                </a:extLst>
              </a:tr>
              <a:tr h="663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Cơ Chế Lưu Trữ Route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Routing table phân tán (mỗi nút biết next-hop, hop count, sequence number).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Route cache toàn cục (source biết toàn bộ route, ghi vào packet header).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5283942"/>
                  </a:ext>
                </a:extLst>
              </a:tr>
              <a:tr h="663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Route Discovery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Flood RREQ; RREP unicast </a:t>
                      </a:r>
                      <a:r>
                        <a:rPr lang="en-US" sz="1300" kern="100" dirty="0" err="1">
                          <a:effectLst/>
                        </a:rPr>
                        <a:t>ngược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đường</a:t>
                      </a:r>
                      <a:r>
                        <a:rPr lang="en-US" sz="1300" kern="100" dirty="0">
                          <a:effectLst/>
                        </a:rPr>
                        <a:t>; </a:t>
                      </a:r>
                      <a:r>
                        <a:rPr lang="en-US" sz="1300" kern="100" dirty="0" err="1">
                          <a:effectLst/>
                        </a:rPr>
                        <a:t>hỗ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trợ</a:t>
                      </a:r>
                      <a:r>
                        <a:rPr lang="en-US" sz="1300" kern="100" dirty="0">
                          <a:effectLst/>
                        </a:rPr>
                        <a:t> multicast.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Flood RREQ với route record; RREP chứa route đầy đủ; promiscuous listening.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7373739"/>
                  </a:ext>
                </a:extLst>
              </a:tr>
              <a:tr h="663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Overhead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Cao ở dense network (flood RREQ rộng); RERR thường xuyên.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Thấp ban đầu (cache), nhưng header lớn (tăng kích thước packet 20-50%).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188786"/>
                  </a:ext>
                </a:extLst>
              </a:tr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Throughput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Cao hơn (10-20% ở high mobility); ít phụ thuộc header.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Thấp hơn ở route dài do header overhead.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850068"/>
                  </a:ext>
                </a:extLst>
              </a:tr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End-to-End Delay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Thấp (route ngắn gọn, next-hop đơn giản).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Cao hơn (xử lý header, stale cache ở mobility cao).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7475809"/>
                  </a:ext>
                </a:extLst>
              </a:tr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Packet Delivery Ratio (PDR)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Cao (85-95% ở mạng lớn); sequence number chống loop tốt.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Thấp hơn (70-85%) ở high mobility do stale routes.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0564134"/>
                  </a:ext>
                </a:extLst>
              </a:tr>
              <a:tr h="663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Scalability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Tốt cho mạng lớn (&gt;50 nodes), topology động.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Tốt cho mạng nhỏ (&lt;20 nodes); kém ở lớn do header phình.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193692"/>
                  </a:ext>
                </a:extLst>
              </a:tr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Hỗ Trợ Multicast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Native (MACT).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Không native; cần extension.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0577774"/>
                  </a:ext>
                </a:extLst>
              </a:tr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Bảo Mật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Dễ thêm signature vào RREP; chống loop tốt.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Route record dễ bị tamper; cần secure extension.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2880545"/>
                  </a:ext>
                </a:extLst>
              </a:tr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Tiêu Thụ Năng Lượng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Thấp hơn nhờ ít cache update.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Cao hơn do promiscuous mode.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2094561"/>
                  </a:ext>
                </a:extLst>
              </a:tr>
              <a:tr h="323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Phù Hợp Với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VANET, mạng cứu hộ lớn.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Mạng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cảm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biến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nhỏ</a:t>
                      </a:r>
                      <a:r>
                        <a:rPr lang="en-US" sz="1300" kern="100" dirty="0">
                          <a:effectLst/>
                        </a:rPr>
                        <a:t>, </a:t>
                      </a:r>
                      <a:r>
                        <a:rPr lang="en-US" sz="1300" kern="100" dirty="0" err="1">
                          <a:effectLst/>
                        </a:rPr>
                        <a:t>ổn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định</a:t>
                      </a:r>
                      <a:r>
                        <a:rPr lang="en-US" sz="1300" kern="100" dirty="0">
                          <a:effectLst/>
                        </a:rPr>
                        <a:t>.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3844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125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-1" y="-83976"/>
            <a:ext cx="11691257" cy="6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TỔNG QUAN AES TRONG BẢO MẬT MANET</a:t>
            </a:r>
            <a:endParaRPr lang="en-US" sz="2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065DB364-1264-75D4-EBA0-5AF79DE9B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029633"/>
              </p:ext>
            </p:extLst>
          </p:nvPr>
        </p:nvGraphicFramePr>
        <p:xfrm>
          <a:off x="0" y="2705606"/>
          <a:ext cx="12192000" cy="4152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9488">
                  <a:extLst>
                    <a:ext uri="{9D8B030D-6E8A-4147-A177-3AD203B41FA5}">
                      <a16:colId xmlns:a16="http://schemas.microsoft.com/office/drawing/2014/main" val="2240311605"/>
                    </a:ext>
                  </a:extLst>
                </a:gridCol>
                <a:gridCol w="5449824">
                  <a:extLst>
                    <a:ext uri="{9D8B030D-6E8A-4147-A177-3AD203B41FA5}">
                      <a16:colId xmlns:a16="http://schemas.microsoft.com/office/drawing/2014/main" val="3684631442"/>
                    </a:ext>
                  </a:extLst>
                </a:gridCol>
                <a:gridCol w="4742688">
                  <a:extLst>
                    <a:ext uri="{9D8B030D-6E8A-4147-A177-3AD203B41FA5}">
                      <a16:colId xmlns:a16="http://schemas.microsoft.com/office/drawing/2014/main" val="1156959792"/>
                    </a:ext>
                  </a:extLst>
                </a:gridCol>
              </a:tblGrid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Khía Cạnh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Secure AODV (SAODV + AES-CBC)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Secure DSR (SDSR + AES-CBC)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371557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Lưu Trữ Route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Bảng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phân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tán</a:t>
                      </a:r>
                      <a:r>
                        <a:rPr lang="en-US" sz="1300" kern="100" dirty="0">
                          <a:effectLst/>
                        </a:rPr>
                        <a:t> (next-hop </a:t>
                      </a:r>
                      <a:r>
                        <a:rPr lang="en-US" sz="1300" kern="100" dirty="0" err="1">
                          <a:effectLst/>
                        </a:rPr>
                        <a:t>mã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hóa</a:t>
                      </a:r>
                      <a:r>
                        <a:rPr lang="en-US" sz="1300" kern="100" dirty="0">
                          <a:effectLst/>
                        </a:rPr>
                        <a:t>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Route cache (full path mã hóa trong header)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648211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Mã Hóa Gói Tin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RREQ/RREP ngắn gọn (header nhỏ, ~20 bytes)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RREQ/RREP dài (route record, header lớn ~400 bytes)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072287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Overhead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Thấp hơn (5-10% tăng packet size); scalable lớn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Cao hơn (20-50% do header); tốt cho mạng nhỏ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6781028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Độ Trễ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Thấp (local repair nhanh)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Cao hơn (xử lý full route decrypt)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2300250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Bảo Mật Chính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Chống loop (seq no + CBC-MAC)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Chống fabrication (record chaining)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9933193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Phù Hợp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Mạng lớn, mobility cao (VANET)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Mạng nhỏ, ổn định (WSN)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9205276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Simulation Kết Quả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PDR 85-95%; throughput </a:t>
                      </a:r>
                      <a:r>
                        <a:rPr lang="en-US" sz="1300" kern="100" dirty="0" err="1">
                          <a:effectLst/>
                        </a:rPr>
                        <a:t>cao</a:t>
                      </a:r>
                      <a:r>
                        <a:rPr lang="en-US" sz="1300" kern="100" dirty="0">
                          <a:effectLst/>
                        </a:rPr>
                        <a:t> 10-20% (NS-3, 2025)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PDR 70-85%; overhead </a:t>
                      </a:r>
                      <a:r>
                        <a:rPr lang="en-US" sz="1300" kern="100" dirty="0" err="1">
                          <a:effectLst/>
                        </a:rPr>
                        <a:t>thấp</a:t>
                      </a:r>
                      <a:r>
                        <a:rPr lang="en-US" sz="1300" kern="100" dirty="0">
                          <a:effectLst/>
                        </a:rPr>
                        <a:t> ban </a:t>
                      </a:r>
                      <a:r>
                        <a:rPr lang="en-US" sz="1300" kern="100" dirty="0" err="1">
                          <a:effectLst/>
                        </a:rPr>
                        <a:t>đầu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7532059"/>
                  </a:ext>
                </a:extLst>
              </a:tr>
            </a:tbl>
          </a:graphicData>
        </a:graphic>
      </p:graphicFrame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C5A9271-E2CE-9292-3C47-C8CA751460F8}"/>
              </a:ext>
            </a:extLst>
          </p:cNvPr>
          <p:cNvSpPr txBox="1"/>
          <p:nvPr/>
        </p:nvSpPr>
        <p:spPr>
          <a:xfrm>
            <a:off x="74645" y="2235607"/>
            <a:ext cx="6176864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6.1. So </a:t>
            </a:r>
            <a:r>
              <a:rPr lang="en-US" sz="2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AES-CBC Trong AODV </a:t>
            </a:r>
            <a:r>
              <a:rPr lang="en-US" sz="2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DSR</a:t>
            </a:r>
            <a:endParaRPr lang="en-US" sz="20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E093D8D-09DF-D773-396E-984A19B45CD7}"/>
              </a:ext>
            </a:extLst>
          </p:cNvPr>
          <p:cNvSpPr txBox="1"/>
          <p:nvPr/>
        </p:nvSpPr>
        <p:spPr>
          <a:xfrm>
            <a:off x="0" y="359028"/>
            <a:ext cx="12192000" cy="2016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chống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pattern attack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nhờ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chaining; overhead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(~16 bytes IV + padding).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Nhược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authentication built-in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HMAC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CBC-MAC);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padding oracle attack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IV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lặp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kém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parallelizable so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CTR/GCM.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AES-CBC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(header + payload),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key symmetric chia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sẻ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Diffie-Hellman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ECC. Trong MANET,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discovery (RREQ flood)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maintenance (RERR),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overhead ở mobility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21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0" y="-126220"/>
            <a:ext cx="11691257" cy="64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MÔ PHỎNG VÀ ĐÁNH GIÁ HIỆU NĂNG</a:t>
            </a:r>
            <a:endParaRPr lang="en-US" sz="2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C5A9271-E2CE-9292-3C47-C8CA751460F8}"/>
              </a:ext>
            </a:extLst>
          </p:cNvPr>
          <p:cNvSpPr txBox="1"/>
          <p:nvPr/>
        </p:nvSpPr>
        <p:spPr>
          <a:xfrm>
            <a:off x="158620" y="297710"/>
            <a:ext cx="6176864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7.1. </a:t>
            </a:r>
            <a:r>
              <a:rPr lang="en-US" sz="2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Setup </a:t>
            </a:r>
            <a:r>
              <a:rPr lang="en-US" sz="2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Trong NS-3</a:t>
            </a:r>
            <a:endParaRPr lang="en-US" sz="20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502A7E2-9C1E-FE01-DBF0-B6AAC99AFA38}"/>
              </a:ext>
            </a:extLst>
          </p:cNvPr>
          <p:cNvSpPr txBox="1"/>
          <p:nvPr/>
        </p:nvSpPr>
        <p:spPr>
          <a:xfrm>
            <a:off x="0" y="646227"/>
            <a:ext cx="12192000" cy="598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AODV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DSR, NS-3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helper class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AodvHelper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DsrHelper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cài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MobilityHelper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InternetStackHelper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stack TCP/IP.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setup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thuyết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phổ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NS-3 v3.29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Ubuntu):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(Nodes): 20-100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50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vực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(Area): 500m x 500m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1000m x 1000m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scalability).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(Mobility Model): Random Waypoint (RW)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0-30 m/s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pause time 0-30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giây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SUMO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VANET.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(Traffic): CBR/UDP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packet size 64-256 bytes, data rate 256 bytes/sec,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100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giây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Chuẩn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IEEE 802.11b/g ở ad-hoc mode, transmission range 100-250m, transmit power 7.5-20 dBm.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200-300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giây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Wireless Channel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Two-Ray Ground propagation model.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mẫu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NS-3 (Python):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AodvHelper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().Set("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MaxDelay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TimeValue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(Seconds(0.25)))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AODV;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DsrMainHelper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DSR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promiscuous mode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bật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Setup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phép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topology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flood RREQ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discovery,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lường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maintenance (RERR, Hello messages).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00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1" y="-126220"/>
            <a:ext cx="9088016" cy="64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MÔ PHỎNG VÀ ĐÁNH GIÁ HIỆU NĂNG</a:t>
            </a:r>
            <a:endParaRPr lang="en-US" sz="2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C5A9271-E2CE-9292-3C47-C8CA751460F8}"/>
              </a:ext>
            </a:extLst>
          </p:cNvPr>
          <p:cNvSpPr txBox="1"/>
          <p:nvPr/>
        </p:nvSpPr>
        <p:spPr>
          <a:xfrm>
            <a:off x="177281" y="291520"/>
            <a:ext cx="6783355" cy="451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7.2.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Metrics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1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502A7E2-9C1E-FE01-DBF0-B6AAC99AFA38}"/>
              </a:ext>
            </a:extLst>
          </p:cNvPr>
          <p:cNvSpPr txBox="1"/>
          <p:nvPr/>
        </p:nvSpPr>
        <p:spPr>
          <a:xfrm>
            <a:off x="0" y="646227"/>
            <a:ext cx="7839075" cy="6206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metrics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flow monitor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animation tools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NS-3: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Packet Delivery Ratio (PDR):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(%).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PDR = (Received / Sent) × 100.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End-to-End Delay (E2ED):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bao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gồm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queueing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propagation delay.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Throughput: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(Kbps),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bits received /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Overhead: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control (RREQ, RREP, RERR) /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(%).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Jitter: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delay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giữa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real-time apps.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Normalized Routing Load (NRL): Overhead /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metrics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vẽ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gnuplot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NS-3)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mobility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node density.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E6B4C390-5ECF-817A-5AF5-83CD784BC448}"/>
              </a:ext>
            </a:extLst>
          </p:cNvPr>
          <p:cNvSpPr txBox="1"/>
          <p:nvPr/>
        </p:nvSpPr>
        <p:spPr>
          <a:xfrm>
            <a:off x="7600950" y="297710"/>
            <a:ext cx="6162868" cy="432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7.3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endParaRPr lang="en-US" sz="20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1C24F5C4-A67B-4F76-C5A4-3C9DD2981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217150"/>
              </p:ext>
            </p:extLst>
          </p:nvPr>
        </p:nvGraphicFramePr>
        <p:xfrm>
          <a:off x="7699892" y="1070157"/>
          <a:ext cx="4492108" cy="5923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9773">
                  <a:extLst>
                    <a:ext uri="{9D8B030D-6E8A-4147-A177-3AD203B41FA5}">
                      <a16:colId xmlns:a16="http://schemas.microsoft.com/office/drawing/2014/main" val="1657616885"/>
                    </a:ext>
                  </a:extLst>
                </a:gridCol>
                <a:gridCol w="2712335">
                  <a:extLst>
                    <a:ext uri="{9D8B030D-6E8A-4147-A177-3AD203B41FA5}">
                      <a16:colId xmlns:a16="http://schemas.microsoft.com/office/drawing/2014/main" val="3087094974"/>
                    </a:ext>
                  </a:extLst>
                </a:gridCol>
              </a:tblGrid>
              <a:tr h="272717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Tham số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Giá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trị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1374849"/>
                  </a:ext>
                </a:extLst>
              </a:tr>
              <a:tr h="567295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Mô hình giao tiếp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V2V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8035621"/>
                  </a:ext>
                </a:extLst>
              </a:tr>
              <a:tr h="567295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Giao thức định tuyến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AODV,  DSR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1376161"/>
                  </a:ext>
                </a:extLst>
              </a:tr>
              <a:tr h="567295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Phạm vi mô phỏng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2100m x 2400m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5256630"/>
                  </a:ext>
                </a:extLst>
              </a:tr>
              <a:tr h="567295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Số lượng phương tiện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100, 150, 200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5589974"/>
                  </a:ext>
                </a:extLst>
              </a:tr>
              <a:tr h="567295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Giao thức truyền thông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UDP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2606436"/>
                  </a:ext>
                </a:extLst>
              </a:tr>
              <a:tr h="567295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Nguồn phát dữ liệu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CBR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4827630"/>
                  </a:ext>
                </a:extLst>
              </a:tr>
              <a:tr h="272717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Tầng Mac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802.11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7961445"/>
                  </a:ext>
                </a:extLst>
              </a:tr>
              <a:tr h="272717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Kích thước gói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512 Bytes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5928416"/>
                  </a:ext>
                </a:extLst>
              </a:tr>
              <a:tr h="567295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Tốc độ gửi gói tin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2 gói/giây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8441606"/>
                  </a:ext>
                </a:extLst>
              </a:tr>
              <a:tr h="272717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Số kết nối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20 UDP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2320298"/>
                  </a:ext>
                </a:extLst>
              </a:tr>
              <a:tr h="861873"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Tốc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độ</a:t>
                      </a:r>
                      <a:r>
                        <a:rPr lang="en-US" sz="1300" kern="100" dirty="0">
                          <a:effectLst/>
                        </a:rPr>
                        <a:t> di </a:t>
                      </a:r>
                      <a:r>
                        <a:rPr lang="en-US" sz="1300" kern="100" dirty="0" err="1">
                          <a:effectLst/>
                        </a:rPr>
                        <a:t>chuyển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Tùy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biến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theo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mật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độ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và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mặc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định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của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tuyến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đường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506956"/>
                  </a:ext>
                </a:extLst>
              </a:tr>
            </a:tbl>
          </a:graphicData>
        </a:graphic>
      </p:graphicFrame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859F3DB-EA77-B97E-6B45-A52E18E8551A}"/>
              </a:ext>
            </a:extLst>
          </p:cNvPr>
          <p:cNvSpPr txBox="1"/>
          <p:nvPr/>
        </p:nvSpPr>
        <p:spPr>
          <a:xfrm>
            <a:off x="7682009" y="632587"/>
            <a:ext cx="7067938" cy="42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7.3.1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kịch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896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1" y="-126220"/>
            <a:ext cx="9088016" cy="64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MÔ PHỎNG VÀ ĐÁNH GIÁ HIỆU NĂNG</a:t>
            </a:r>
            <a:endParaRPr lang="en-US" sz="2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C5A9271-E2CE-9292-3C47-C8CA751460F8}"/>
              </a:ext>
            </a:extLst>
          </p:cNvPr>
          <p:cNvSpPr txBox="1"/>
          <p:nvPr/>
        </p:nvSpPr>
        <p:spPr>
          <a:xfrm>
            <a:off x="177281" y="396295"/>
            <a:ext cx="6783355" cy="440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7.3.2 AODV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AES-CBC</a:t>
            </a:r>
            <a:endParaRPr lang="en-US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58B824EF-0CD0-41E3-1190-101E37595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318"/>
            <a:ext cx="5895976" cy="4497683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EF0623C6-EAB6-6D79-D0BD-417AC9BC5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41319"/>
            <a:ext cx="6115685" cy="4497682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1F7319EA-1577-378B-63E3-BAA12D7DC52A}"/>
              </a:ext>
            </a:extLst>
          </p:cNvPr>
          <p:cNvSpPr txBox="1"/>
          <p:nvPr/>
        </p:nvSpPr>
        <p:spPr>
          <a:xfrm>
            <a:off x="-138112" y="5543775"/>
            <a:ext cx="6172200" cy="78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AODV.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455959BB-CA98-0A8A-D7DA-A116D8776D20}"/>
              </a:ext>
            </a:extLst>
          </p:cNvPr>
          <p:cNvSpPr txBox="1"/>
          <p:nvPr/>
        </p:nvSpPr>
        <p:spPr>
          <a:xfrm>
            <a:off x="5791200" y="5543775"/>
            <a:ext cx="6172200" cy="78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0005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8: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MANET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AODV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35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1" y="-126220"/>
            <a:ext cx="9088016" cy="64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MÔ PHỎNG VÀ ĐÁNH GIÁ HIỆU NĂNG</a:t>
            </a:r>
            <a:endParaRPr lang="en-US" sz="2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C5A9271-E2CE-9292-3C47-C8CA751460F8}"/>
              </a:ext>
            </a:extLst>
          </p:cNvPr>
          <p:cNvSpPr txBox="1"/>
          <p:nvPr/>
        </p:nvSpPr>
        <p:spPr>
          <a:xfrm>
            <a:off x="177281" y="396295"/>
            <a:ext cx="6783355" cy="440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7.3.3 DSR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AES-CBC</a:t>
            </a:r>
            <a:endParaRPr lang="en-US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1F7319EA-1577-378B-63E3-BAA12D7DC52A}"/>
              </a:ext>
            </a:extLst>
          </p:cNvPr>
          <p:cNvSpPr txBox="1"/>
          <p:nvPr/>
        </p:nvSpPr>
        <p:spPr>
          <a:xfrm>
            <a:off x="177281" y="5543775"/>
            <a:ext cx="5559198" cy="78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9: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MANET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DSR.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455959BB-CA98-0A8A-D7DA-A116D8776D20}"/>
              </a:ext>
            </a:extLst>
          </p:cNvPr>
          <p:cNvSpPr txBox="1"/>
          <p:nvPr/>
        </p:nvSpPr>
        <p:spPr>
          <a:xfrm>
            <a:off x="6455523" y="5543775"/>
            <a:ext cx="5559198" cy="78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10: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MANET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tvới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DSR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4C3D6491-F6B1-F895-E7CC-ECFD8865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318"/>
            <a:ext cx="5943600" cy="4497682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8717E5BE-1A40-FD11-9CE3-FCCC6C55F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930" y="941317"/>
            <a:ext cx="6148070" cy="449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45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D52DB7-DFBD-7FD8-1CEB-98E5CA706474}"/>
              </a:ext>
            </a:extLst>
          </p:cNvPr>
          <p:cNvSpPr txBox="1"/>
          <p:nvPr/>
        </p:nvSpPr>
        <p:spPr>
          <a:xfrm>
            <a:off x="1" y="-126220"/>
            <a:ext cx="9088016" cy="64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MÔ PHỎNG VÀ ĐÁNH GIÁ HIỆU NĂNG</a:t>
            </a:r>
            <a:endParaRPr lang="en-US" sz="2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C5A9271-E2CE-9292-3C47-C8CA751460F8}"/>
              </a:ext>
            </a:extLst>
          </p:cNvPr>
          <p:cNvSpPr txBox="1"/>
          <p:nvPr/>
        </p:nvSpPr>
        <p:spPr>
          <a:xfrm>
            <a:off x="195942" y="318527"/>
            <a:ext cx="6783355" cy="451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7.4.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9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1900" b="1" kern="100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0D639D8-C0EE-6020-77CD-56E7125E5ACB}"/>
              </a:ext>
            </a:extLst>
          </p:cNvPr>
          <p:cNvSpPr txBox="1"/>
          <p:nvPr/>
        </p:nvSpPr>
        <p:spPr>
          <a:xfrm>
            <a:off x="0" y="739434"/>
            <a:ext cx="12192000" cy="114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phỏng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NS-3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2018-2023), AODV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vượt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mobility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nhờ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sequence number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chống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loop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local repair,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DSR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nhờ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route cache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kém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scalable do header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scenario 50 nodes, area 500-1000m², speed 0-30 m/s, simulation 200s):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CADCB49A-2DFD-56B6-62BF-45601FFA0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" y="1967676"/>
            <a:ext cx="6084570" cy="4050569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77AEC517-24AD-34F4-87EF-4300B9EBE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471" y="2034073"/>
            <a:ext cx="6279092" cy="4050568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D13B8629-686B-48F9-2D90-91CFA21A94D4}"/>
              </a:ext>
            </a:extLst>
          </p:cNvPr>
          <p:cNvSpPr txBox="1"/>
          <p:nvPr/>
        </p:nvSpPr>
        <p:spPr>
          <a:xfrm>
            <a:off x="-80864" y="6170840"/>
            <a:ext cx="6176864" cy="42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100 THIẾT BỊ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BA7C0BBD-905E-123A-4B24-3D77A5A59026}"/>
              </a:ext>
            </a:extLst>
          </p:cNvPr>
          <p:cNvSpPr txBox="1"/>
          <p:nvPr/>
        </p:nvSpPr>
        <p:spPr>
          <a:xfrm>
            <a:off x="6096000" y="6170839"/>
            <a:ext cx="6176864" cy="42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200 THIẾT BỊ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46237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3382</Words>
  <Application>Microsoft Office PowerPoint</Application>
  <PresentationFormat>Màn hình rộng</PresentationFormat>
  <Paragraphs>236</Paragraphs>
  <Slides>16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8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Courier New</vt:lpstr>
      <vt:lpstr>Symbol</vt:lpstr>
      <vt:lpstr>Times New Roman</vt:lpstr>
      <vt:lpstr>Chủ đề Office</vt:lpstr>
      <vt:lpstr>ĐỀ TÀI: MẠNG MANET VÀ GIAO THỨC ĐỊNH TUYẾN DSR, AODV KẾT HỢP MÃ HÓA AES CƠ CHẾ CBC </vt:lpstr>
      <vt:lpstr>1. GIỚI THIỆU VỀ MẠNG MANET </vt:lpstr>
      <vt:lpstr>2. CÁC GIAO THỨC ĐỊNH TUYẾN TRONG MANET </vt:lpstr>
      <vt:lpstr>3. GIAO THỨC ĐỊNH TUYẾN DSR(Dynamic Source Routing)</vt:lpstr>
      <vt:lpstr>3. GIAO THỨC ĐỊNH TUYẾN DSR(Dynamic Source Routing)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Đắc Trọng</dc:creator>
  <cp:lastModifiedBy>Đắc Trọng</cp:lastModifiedBy>
  <cp:revision>57</cp:revision>
  <dcterms:created xsi:type="dcterms:W3CDTF">2025-12-01T12:49:26Z</dcterms:created>
  <dcterms:modified xsi:type="dcterms:W3CDTF">2025-12-03T16:04:27Z</dcterms:modified>
</cp:coreProperties>
</file>